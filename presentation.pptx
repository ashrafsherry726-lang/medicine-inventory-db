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2286000"/>
            <a:ext cx="457200" cy="2857500"/>
          </a:xfrm>
          <a:prstGeom prst="rect">
            <a:avLst/>
          </a:prstGeom>
          <a:solidFill>
            <a:srgbClr val="2E5F8A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Inventory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 of a Relational Database | Project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7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Course  |  Project 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384048" cy="384048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22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85953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&amp; Objectives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618488"/>
            <a:ext cx="384048" cy="384048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65506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 – Entities &amp; Attributes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414016"/>
            <a:ext cx="384048" cy="384048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4505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– Relationships &amp; Constraints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209544"/>
            <a:ext cx="384048" cy="384048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4005072"/>
            <a:ext cx="384048" cy="384048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0416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– Tables &amp; Views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384048" cy="384048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822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0" y="85953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– Automated Billing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618488"/>
            <a:ext cx="384048" cy="384048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165506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– Test Data &amp; Sample Queries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2414016"/>
            <a:ext cx="384048" cy="384048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24505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Project Queries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3209544"/>
            <a:ext cx="384048" cy="384048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324612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Testing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4005072"/>
            <a:ext cx="384048" cy="384048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12080" y="40416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UI – Flask Web Application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731520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system manage?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14800" cy="1691640"/>
          </a:xfrm>
          <a:prstGeom prst="rect">
            <a:avLst/>
          </a:prstGeom>
          <a:solidFill>
            <a:srgbClr val="EBF4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13990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89280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medicine catalogue with dosage, pricing, expiry dates, and disease associations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114800" cy="1691640"/>
          </a:xfrm>
          <a:prstGeom prst="rect">
            <a:avLst/>
          </a:prstGeom>
          <a:solidFill>
            <a:srgbClr val="EBF4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40680" y="13990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89280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issue prescriptions for patients; each lists medicines and quantities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154680"/>
            <a:ext cx="4114800" cy="1691640"/>
          </a:xfrm>
          <a:prstGeom prst="rect">
            <a:avLst/>
          </a:prstGeom>
          <a:solidFill>
            <a:srgbClr val="EBF4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🧾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051560" y="33192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81304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are auto-generated and recalculated whenever a prescription changes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3154680"/>
            <a:ext cx="4114800" cy="1691640"/>
          </a:xfrm>
          <a:prstGeom prst="rect">
            <a:avLst/>
          </a:prstGeom>
          <a:solidFill>
            <a:srgbClr val="EBF4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40680" y="33192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&amp; Patients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81304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specialisations and patient demographics tracked centrally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&amp; Attributes – Part 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5F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11480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595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disease_id (PK)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disease_name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disease_type {Infectious | Deficiency | Genetic Hereditary | Non-Genetic Hereditary}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1148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5F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411480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8595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2801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doctor_id (PK)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doctor_name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41148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5F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71800"/>
            <a:ext cx="411480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00837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" y="34290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patient_id (PK)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patient_name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birth_date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1148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5F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71800"/>
            <a:ext cx="411480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00837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46320" y="34290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medicine_id (PK)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medicine_name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manufacture_date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expiry_date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dosage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&amp; Attributes – Part 2  (Associative Entities)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8FB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114800" cy="384048"/>
          </a:xfrm>
          <a:prstGeom prst="rect">
            <a:avLst/>
          </a:prstGeom>
          <a:solidFill>
            <a:srgbClr val="2E5F8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595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prescription_id (PK)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issuing_date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doctor_id (FK → DOCTOR)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patient_id (FK → PATIENT)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1148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8FB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4114800" cy="384048"/>
          </a:xfrm>
          <a:prstGeom prst="rect">
            <a:avLst/>
          </a:prstGeom>
          <a:solidFill>
            <a:srgbClr val="2E5F8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8595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PRESCRIPTION_MEDICINE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2801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prescription_id (PK, FK)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medicine_id (PK, FK)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41148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8FB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71800"/>
            <a:ext cx="4114800" cy="384048"/>
          </a:xfrm>
          <a:prstGeom prst="rect">
            <a:avLst/>
          </a:prstGeom>
          <a:solidFill>
            <a:srgbClr val="2E5F8A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00837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MEDICINE_DISEASE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4290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medicine_id (PK, FK → MEDICINE)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disease_id (PK, FK → DISEASE)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1148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8FB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71800"/>
            <a:ext cx="4114800" cy="384048"/>
          </a:xfrm>
          <a:prstGeom prst="rect">
            <a:avLst/>
          </a:prstGeom>
          <a:solidFill>
            <a:srgbClr val="2E5F8A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00837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4290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bill_id (PK)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prescription_id (FK, UNIQUE)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(%)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(%)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731520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Relationships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– Entity Relationship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463040" cy="475488"/>
          </a:xfrm>
          <a:prstGeom prst="rect">
            <a:avLst/>
          </a:prstGeom>
          <a:solidFill>
            <a:srgbClr val="1E3A5F"/>
          </a:solidFill>
          <a:ln w="25400">
            <a:solidFill>
              <a:srgbClr val="1A8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777240"/>
            <a:ext cx="1463040" cy="475488"/>
          </a:xfrm>
          <a:prstGeom prst="rect">
            <a:avLst/>
          </a:prstGeom>
          <a:solidFill>
            <a:srgbClr val="1E3A5F"/>
          </a:solidFill>
          <a:ln w="25400">
            <a:solidFill>
              <a:srgbClr val="1A8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7772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2286000"/>
            <a:ext cx="1737360" cy="475488"/>
          </a:xfrm>
          <a:prstGeom prst="rect">
            <a:avLst/>
          </a:prstGeom>
          <a:solidFill>
            <a:srgbClr val="1E3A5F"/>
          </a:solidFill>
          <a:ln w="25400">
            <a:solidFill>
              <a:srgbClr val="1A8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22860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2286000"/>
            <a:ext cx="1463040" cy="475488"/>
          </a:xfrm>
          <a:prstGeom prst="rect">
            <a:avLst/>
          </a:prstGeom>
          <a:solidFill>
            <a:srgbClr val="1E3A5F"/>
          </a:solidFill>
          <a:ln w="25400">
            <a:solidFill>
              <a:srgbClr val="1A8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22860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1005840"/>
            <a:ext cx="1463040" cy="475488"/>
          </a:xfrm>
          <a:prstGeom prst="rect">
            <a:avLst/>
          </a:prstGeom>
          <a:solidFill>
            <a:srgbClr val="1E3A5F"/>
          </a:solidFill>
          <a:ln w="25400">
            <a:solidFill>
              <a:srgbClr val="1A8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0058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3931920"/>
            <a:ext cx="1737360" cy="475488"/>
          </a:xfrm>
          <a:prstGeom prst="rect">
            <a:avLst/>
          </a:prstGeom>
          <a:solidFill>
            <a:srgbClr val="1E3A5F"/>
          </a:solidFill>
          <a:ln w="25400">
            <a:solidFill>
              <a:srgbClr val="1A8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39319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45920" y="804672"/>
            <a:ext cx="1234440" cy="438912"/>
          </a:xfrm>
          <a:prstGeom prst="rect">
            <a:avLst/>
          </a:prstGeom>
          <a:solidFill>
            <a:srgbClr val="FFF3E0"/>
          </a:solidFill>
          <a:ln w="19050">
            <a:solidFill>
              <a:srgbClr val="C05E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80467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0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(M:N)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645920"/>
            <a:ext cx="1234440" cy="438912"/>
          </a:xfrm>
          <a:prstGeom prst="rect">
            <a:avLst/>
          </a:prstGeom>
          <a:solidFill>
            <a:srgbClr val="FFF3E0"/>
          </a:solidFill>
          <a:ln w="19050">
            <a:solidFill>
              <a:srgbClr val="C05E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164592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0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(M:N)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2304288"/>
            <a:ext cx="1097280" cy="438912"/>
          </a:xfrm>
          <a:prstGeom prst="rect">
            <a:avLst/>
          </a:prstGeom>
          <a:solidFill>
            <a:srgbClr val="FFF3E0"/>
          </a:solidFill>
          <a:ln w="19050">
            <a:solidFill>
              <a:srgbClr val="C05E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30428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0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(1:N)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1234440"/>
            <a:ext cx="1005840" cy="438912"/>
          </a:xfrm>
          <a:prstGeom prst="rect">
            <a:avLst/>
          </a:prstGeom>
          <a:solidFill>
            <a:srgbClr val="FFF3E0"/>
          </a:solidFill>
          <a:ln w="19050">
            <a:solidFill>
              <a:srgbClr val="C05E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123444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0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(1:N)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3200400"/>
            <a:ext cx="1371600" cy="438912"/>
          </a:xfrm>
          <a:prstGeom prst="rect">
            <a:avLst/>
          </a:prstGeom>
          <a:solidFill>
            <a:srgbClr val="FFF3E0"/>
          </a:solidFill>
          <a:ln w="19050">
            <a:solidFill>
              <a:srgbClr val="C05E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32004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0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(1:1)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05840" y="1014984"/>
            <a:ext cx="640080" cy="0"/>
          </a:xfrm>
          <a:prstGeom prst="line">
            <a:avLst/>
          </a:prstGeom>
          <a:noFill/>
          <a:ln w="15240">
            <a:solidFill>
              <a:srgbClr val="2E5F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80360" y="1014984"/>
            <a:ext cx="320040" cy="850392"/>
          </a:xfrm>
          <a:prstGeom prst="line">
            <a:avLst/>
          </a:prstGeom>
          <a:noFill/>
          <a:ln w="15240">
            <a:solidFill>
              <a:srgbClr val="2E5F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0" y="1014984"/>
            <a:ext cx="137160" cy="0"/>
          </a:xfrm>
          <a:prstGeom prst="line">
            <a:avLst/>
          </a:prstGeom>
          <a:noFill/>
          <a:ln w="15240">
            <a:solidFill>
              <a:srgbClr val="2E5F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084832"/>
            <a:ext cx="0" cy="438912"/>
          </a:xfrm>
          <a:prstGeom prst="line">
            <a:avLst/>
          </a:prstGeom>
          <a:noFill/>
          <a:ln w="15240">
            <a:solidFill>
              <a:srgbClr val="2E5F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83480" y="2523744"/>
            <a:ext cx="685800" cy="0"/>
          </a:xfrm>
          <a:prstGeom prst="line">
            <a:avLst/>
          </a:prstGeom>
          <a:noFill/>
          <a:ln w="15240">
            <a:solidFill>
              <a:srgbClr val="2E5F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2523744"/>
            <a:ext cx="365760" cy="0"/>
          </a:xfrm>
          <a:prstGeom prst="line">
            <a:avLst/>
          </a:prstGeom>
          <a:noFill/>
          <a:ln w="15240">
            <a:solidFill>
              <a:srgbClr val="2E5F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83480" y="2286000"/>
            <a:ext cx="0" cy="914400"/>
          </a:xfrm>
          <a:prstGeom prst="line">
            <a:avLst/>
          </a:prstGeom>
          <a:noFill/>
          <a:ln w="15240">
            <a:solidFill>
              <a:srgbClr val="2E5F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419856"/>
            <a:ext cx="0" cy="512064"/>
          </a:xfrm>
          <a:prstGeom prst="line">
            <a:avLst/>
          </a:prstGeom>
          <a:noFill/>
          <a:ln w="15240">
            <a:solidFill>
              <a:srgbClr val="2E5F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1453896"/>
            <a:ext cx="1325880" cy="-210312"/>
          </a:xfrm>
          <a:prstGeom prst="line">
            <a:avLst/>
          </a:prstGeom>
          <a:noFill/>
          <a:ln w="15240">
            <a:solidFill>
              <a:srgbClr val="2E5F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3480" y="1243584"/>
            <a:ext cx="777240" cy="210312"/>
          </a:xfrm>
          <a:prstGeom prst="line">
            <a:avLst/>
          </a:prstGeom>
          <a:noFill/>
          <a:ln w="15240">
            <a:solidFill>
              <a:srgbClr val="2E5F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" y="4434840"/>
            <a:ext cx="256032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434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11680" y="4434840"/>
            <a:ext cx="256032" cy="256032"/>
          </a:xfrm>
          <a:prstGeom prst="rect">
            <a:avLst/>
          </a:prstGeom>
          <a:solidFill>
            <a:srgbClr val="FFF3E0"/>
          </a:solidFill>
          <a:ln w="12700">
            <a:solidFill>
              <a:srgbClr val="C05E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31720" y="44348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– Cardinality &amp; Participation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01168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31720" y="822960"/>
            <a:ext cx="219456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822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26280" y="822960"/>
            <a:ext cx="128016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822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6440" y="822960"/>
            <a:ext cx="283464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822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Constraint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234440"/>
            <a:ext cx="2011680" cy="65836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344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31720" y="1234440"/>
            <a:ext cx="2194560" cy="65836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12344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→ PRESCRIPTION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1234440"/>
            <a:ext cx="1280160" cy="65836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2344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06440" y="1234440"/>
            <a:ext cx="2834640" cy="65836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2344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on PRESCRIPTION (every prescription must have a doctor)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1920240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9202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31720" y="1920240"/>
            <a:ext cx="2194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19202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→ PRESCRIPTION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26280" y="1920240"/>
            <a:ext cx="1280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19202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1920240"/>
            <a:ext cx="2834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19202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on PRESCRIPTION (every prescription must have a patient)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2606040"/>
            <a:ext cx="2011680" cy="65836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6060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31720" y="2606040"/>
            <a:ext cx="2194560" cy="65836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26060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↔ MEDICINE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26280" y="2606040"/>
            <a:ext cx="1280160" cy="65836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26060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06440" y="2606040"/>
            <a:ext cx="2834640" cy="65836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26060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both sides (resolved via PRESCRIPTION_MEDICINE)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3291840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2918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331720" y="3291840"/>
            <a:ext cx="2194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32918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↔ DISEASE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26280" y="3291840"/>
            <a:ext cx="1280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32918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806440" y="3291840"/>
            <a:ext cx="2834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32918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both sides (resolved via MEDICINE_DISEASE)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" y="3977640"/>
            <a:ext cx="2011680" cy="65836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9776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331720" y="3977640"/>
            <a:ext cx="2194560" cy="65836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77440" y="39776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→ BILL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26280" y="3977640"/>
            <a:ext cx="1280160" cy="65836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39776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806440" y="3977640"/>
            <a:ext cx="2834640" cy="65836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52160" y="39776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on BILL (every bill must link to a prescription)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Participation = double line  |  Partial Participation = single line  |  M:N resolved via associative tables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731520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– All Tables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164592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229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65960" y="822960"/>
            <a:ext cx="6858000" cy="438912"/>
          </a:xfrm>
          <a:prstGeom prst="rect">
            <a:avLst/>
          </a:prstGeom>
          <a:solidFill>
            <a:srgbClr val="EBF4FB"/>
          </a:solidFill>
          <a:ln w="6350">
            <a:solidFill>
              <a:srgbClr val="CDD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85953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disease_id (PK), disease_name, disease_type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164592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533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65960" y="1353312"/>
            <a:ext cx="6858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DD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138988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doctor_id (PK), doctor_name, qualification, specialization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883664"/>
            <a:ext cx="164592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88366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65960" y="1883664"/>
            <a:ext cx="6858000" cy="438912"/>
          </a:xfrm>
          <a:prstGeom prst="rect">
            <a:avLst/>
          </a:prstGeom>
          <a:solidFill>
            <a:srgbClr val="EBF4FB"/>
          </a:solidFill>
          <a:ln w="6350">
            <a:solidFill>
              <a:srgbClr val="CDD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19202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patient_id (PK), patient_name, birth_date, phone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414016"/>
            <a:ext cx="164592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41401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65960" y="2414016"/>
            <a:ext cx="6858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DD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57400" y="245059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medicine_id (PK), medicine_name, manufacture_date, expiry_date, price, dosage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944368"/>
            <a:ext cx="164592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9443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MEDICINE_DISEASE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65960" y="2944368"/>
            <a:ext cx="6858000" cy="438912"/>
          </a:xfrm>
          <a:prstGeom prst="rect">
            <a:avLst/>
          </a:prstGeom>
          <a:solidFill>
            <a:srgbClr val="EBF4FB"/>
          </a:solidFill>
          <a:ln w="6350">
            <a:solidFill>
              <a:srgbClr val="CDD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2980944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medicine_id (PK, FK), disease_id (PK, FK)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474720"/>
            <a:ext cx="164592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4747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PRESCRIPTION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65960" y="3474720"/>
            <a:ext cx="6858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DD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57400" y="351129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prescription_id (PK), doctor_id (FK), patient_id (FK), issuing_date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005072"/>
            <a:ext cx="164592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00507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PRESCRIPTION_MEDICINE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65960" y="4005072"/>
            <a:ext cx="6858000" cy="438912"/>
          </a:xfrm>
          <a:prstGeom prst="rect">
            <a:avLst/>
          </a:prstGeom>
          <a:solidFill>
            <a:srgbClr val="EBF4FB"/>
          </a:solidFill>
          <a:ln w="6350">
            <a:solidFill>
              <a:srgbClr val="CDD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57400" y="404164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prescription_id (PK, FK), medicine_id (PK, FK), quantity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535424"/>
            <a:ext cx="164592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453542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965960" y="4535424"/>
            <a:ext cx="6858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DD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57400" y="45720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bill_id (PK), prescription_id (FK, UNIQUE), subtotal, tax, discount, total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731520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– Create Tables &amp; Views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– DISEASE and DOCTOR Tables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2240280"/>
          </a:xfrm>
          <a:prstGeom prst="rect">
            <a:avLst/>
          </a:prstGeom>
          <a:solidFill>
            <a:srgbClr val="1A2635"/>
          </a:solidFill>
          <a:ln/>
        </p:spPr>
      </p:sp>
      <p:sp>
        <p:nvSpPr>
          <p:cNvPr id="5" name="Text 3"/>
          <p:cNvSpPr/>
          <p:nvPr/>
        </p:nvSpPr>
        <p:spPr>
          <a:xfrm>
            <a:off x="429768" y="914400"/>
            <a:ext cx="389534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DISEASE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disease_id   INT  PRIMARY KEY,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disease_name VARCHAR(100) NOT NULL UNIQUE,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disease_type VARCHAR(60)  NOT NULL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 (disease_type IN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'Infectious',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'Deficiency',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'Genetic Hereditary',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'Non-Genetic Hereditary'))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822960"/>
            <a:ext cx="4114800" cy="2240280"/>
          </a:xfrm>
          <a:prstGeom prst="rect">
            <a:avLst/>
          </a:prstGeom>
          <a:solidFill>
            <a:srgbClr val="1A2635"/>
          </a:solidFill>
          <a:ln/>
        </p:spPr>
      </p:sp>
      <p:sp>
        <p:nvSpPr>
          <p:cNvPr id="7" name="Text 5"/>
          <p:cNvSpPr/>
          <p:nvPr/>
        </p:nvSpPr>
        <p:spPr>
          <a:xfrm>
            <a:off x="4818888" y="914400"/>
            <a:ext cx="389534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DOCTOR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doctor_id      INT          PRIMARY KEY,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doctor_name    VARCHAR(100)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qualification  VARCHAR(100)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specialization VARCHAR(100) NOT NULL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31546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352044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 on disease_type enforces exactly 4 valid values – prevents invalid data at the DB level</a:t>
            </a:r>
            <a:endParaRPr lang="en-US" sz="13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on disease_name prevents duplicate disease entries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– PRESCRIPTION and BILL Tables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2240280"/>
          </a:xfrm>
          <a:prstGeom prst="rect">
            <a:avLst/>
          </a:prstGeom>
          <a:solidFill>
            <a:srgbClr val="1A2635"/>
          </a:solidFill>
          <a:ln/>
        </p:spPr>
      </p:sp>
      <p:sp>
        <p:nvSpPr>
          <p:cNvPr id="5" name="Text 3"/>
          <p:cNvSpPr/>
          <p:nvPr/>
        </p:nvSpPr>
        <p:spPr>
          <a:xfrm>
            <a:off x="429768" y="914400"/>
            <a:ext cx="389534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PRESCRIPTION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prescription_id INT  PRIMARY KEY,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doctor_id  INT 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patient_id INT 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issuing_date DATE NOT NULL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 (CURRENT_DATE),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(doctor_id)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DOCTOR(doctor_id),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(patient_id)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PATIENT(patient_id)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822960"/>
            <a:ext cx="4114800" cy="2240280"/>
          </a:xfrm>
          <a:prstGeom prst="rect">
            <a:avLst/>
          </a:prstGeom>
          <a:solidFill>
            <a:srgbClr val="1A2635"/>
          </a:solidFill>
          <a:ln/>
        </p:spPr>
      </p:sp>
      <p:sp>
        <p:nvSpPr>
          <p:cNvPr id="7" name="Text 5"/>
          <p:cNvSpPr/>
          <p:nvPr/>
        </p:nvSpPr>
        <p:spPr>
          <a:xfrm>
            <a:off x="4818888" y="914400"/>
            <a:ext cx="389534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BILL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bill_id         INT           PRIMARY KEY,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prescription_id INT  NOT NULL UNIQUE,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subtotal  DECIMAL(12,2) DEFAULT 0.00,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tax       DECIMAL(5,2)  DEFAULT 14.00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 (tax BETWEEN 0 AND 100),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discount  DECIMAL(5,2)  DEFAULT 0.00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 (discount BETWEEN 0 AND 100),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    DECIMAL(12,2) DEFAULT 0.00,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(prescription_id)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PRESCRIPTION(prescription_id)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31546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on prescription_id enforces the 1:1 between PRESCRIPTION and BILL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3547872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DECIMAL(12,2) used for monetary values — avoids floating-point errors</a:t>
            </a:r>
            <a:endParaRPr lang="en-US" sz="13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(CURRENT_DATE) automatically stamps the prescription date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– Views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2743200"/>
          </a:xfrm>
          <a:prstGeom prst="rect">
            <a:avLst/>
          </a:prstGeom>
          <a:solidFill>
            <a:srgbClr val="1A2635"/>
          </a:solidFill>
          <a:ln/>
        </p:spPr>
      </p:sp>
      <p:sp>
        <p:nvSpPr>
          <p:cNvPr id="5" name="Text 3"/>
          <p:cNvSpPr/>
          <p:nvPr/>
        </p:nvSpPr>
        <p:spPr>
          <a:xfrm>
            <a:off x="429768" y="914400"/>
            <a:ext cx="828446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View 1: Full prescription details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v_prescription_details 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p.prescription_id, p.issuing_date,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d.doctor_name, pat.patient_name,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m.medicine_name, pm.quantity,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m.price, (pm.quantity * m.price) AS line_total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PRESCRIPTION 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DOCTOR d   ON p.doctor_id = d.doctor_id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PATIENT pat ON p.patient_id = pat.patient_id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PRESCRIPTION_MEDICINE pm ON p.prescription_id = pm.prescription_id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MEDICINE m ON pm.medicine_id = m.medicine_id;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3703320"/>
            <a:ext cx="2743200" cy="1188720"/>
          </a:xfrm>
          <a:prstGeom prst="rect">
            <a:avLst/>
          </a:prstGeom>
          <a:solidFill>
            <a:srgbClr val="EBF4FB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37673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v_prescription_details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160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join: prescription + doctor + patient + medicines + line totals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3703320"/>
            <a:ext cx="2743200" cy="1188720"/>
          </a:xfrm>
          <a:prstGeom prst="rect">
            <a:avLst/>
          </a:prstGeom>
          <a:solidFill>
            <a:srgbClr val="EBF4FB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37673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v_bill_summary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4160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with patient name, subtotal, tax, discount, final total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3703320"/>
            <a:ext cx="2743200" cy="1188720"/>
          </a:xfrm>
          <a:prstGeom prst="rect">
            <a:avLst/>
          </a:prstGeom>
          <a:solidFill>
            <a:srgbClr val="EBF4FB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37673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v_medicine_diseases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4160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medicine with all associated diseases (GROUP_CONCAT)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731520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– Automated Billing Logic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–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19456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Name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14600" y="822960"/>
            <a:ext cx="219456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822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393192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234440"/>
            <a:ext cx="2194560" cy="65836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344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trg_after_prescription_insert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1234440"/>
            <a:ext cx="2194560" cy="65836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2344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 on PRESCRIPTION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234440"/>
            <a:ext cx="3931920" cy="65836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2344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a BILL row for every new prescription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920240"/>
            <a:ext cx="2194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9202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trg_after_pmed_insert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1920240"/>
            <a:ext cx="2194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19202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 on PRESCRIPTION_MEDICINE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920240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9202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 subtotal and total when medicine added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606040"/>
            <a:ext cx="2194560" cy="65836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6060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trg_after_pmed_update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14600" y="2606040"/>
            <a:ext cx="2194560" cy="65836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26060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UPDATE on PRESCRIPTION_MEDICINE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606040"/>
            <a:ext cx="3931920" cy="65836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6060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 when quantity is changed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291840"/>
            <a:ext cx="2194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918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trg_after_pmed_delete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14600" y="3291840"/>
            <a:ext cx="2194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32918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DELETE on PRESCRIPTION_MEDICINE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291840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2918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 when medicine removed from prescription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3977640"/>
            <a:ext cx="2194560" cy="65836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9776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trg_check_medicine_expiry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14600" y="3977640"/>
            <a:ext cx="2194560" cy="65836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39776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INSERT on PRESCRIPTION_MEDICINE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3977640"/>
            <a:ext cx="3931920" cy="65836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9776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expired medicines – raises SQLSTATE 45000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0040" y="4617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Total Formula: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194560" y="4617720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9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 =  subtotal  +  (subtotal × tax / 100)  −  (subtotal × discount / 100)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Code – Auto Bill on Prescription Insert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4114800"/>
          </a:xfrm>
          <a:prstGeom prst="rect">
            <a:avLst/>
          </a:prstGeom>
          <a:solidFill>
            <a:srgbClr val="1A2635"/>
          </a:solidFill>
          <a:ln/>
        </p:spPr>
      </p:sp>
      <p:sp>
        <p:nvSpPr>
          <p:cNvPr id="5" name="Text 3"/>
          <p:cNvSpPr/>
          <p:nvPr/>
        </p:nvSpPr>
        <p:spPr>
          <a:xfrm>
            <a:off x="429768" y="914400"/>
            <a:ext cx="3895344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trg_after_prescription_insert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INSERT ON PRESCRIPTION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BILL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bill_id,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prescription_id,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subtotal, tax,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discount, total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VALUES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(SELECT IFNULL(MAX(bill_id),0)+1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FROM BILL),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NEW.prescription_id,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0.00, 14.00, 0.00, 0.00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END$$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822960"/>
            <a:ext cx="4114800" cy="4114800"/>
          </a:xfrm>
          <a:prstGeom prst="rect">
            <a:avLst/>
          </a:prstGeom>
          <a:solidFill>
            <a:srgbClr val="1A2635"/>
          </a:solidFill>
          <a:ln/>
        </p:spPr>
      </p:sp>
      <p:sp>
        <p:nvSpPr>
          <p:cNvPr id="7" name="Text 5"/>
          <p:cNvSpPr/>
          <p:nvPr/>
        </p:nvSpPr>
        <p:spPr>
          <a:xfrm>
            <a:off x="4818888" y="914400"/>
            <a:ext cx="3895344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trg_after_pmed_insert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INSERT ON PRESCRIPTION_MEDICINE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v_subtotal DECIMAL(12,2);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SUM(pm.quantity * m.price)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INTO   v_subtotal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  PRESCRIPTION_MEDICINE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  MEDICINE 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ON pm.medicine_id = m.medicine_id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 pm.prescription_id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= NEW.prescription_id;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BILL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subtotal = v_subtotal,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prescription_id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 NEW.prescription_id;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END$$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731520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– Test Data &amp; Queries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– Summary (≥12 records per table)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56032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80360" y="822960"/>
            <a:ext cx="128016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822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822960"/>
            <a:ext cx="438912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822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234440"/>
            <a:ext cx="2560320" cy="457200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80360" y="1234440"/>
            <a:ext cx="1280160" cy="457200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1234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60520" y="1234440"/>
            <a:ext cx="4389120" cy="457200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1234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disease types: Infectious, Deficiency, Genetic, Non-Genetic Hereditary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719072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719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80360" y="1719072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17190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60520" y="1719072"/>
            <a:ext cx="4389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17190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Cardiology, Pulmonology, Hematology, Heart Disease, Infectious Disease …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203704"/>
            <a:ext cx="2560320" cy="457200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2037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80360" y="2203704"/>
            <a:ext cx="1280160" cy="457200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220370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60520" y="2203704"/>
            <a:ext cx="4389120" cy="457200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22037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 ages (DOB 1957–2001), all with phone numbers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2688336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6883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80360" y="2688336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268833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60520" y="2688336"/>
            <a:ext cx="4389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0" y="26883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Antibiotics, vitamins, diabetes/hypertension drugs; all expiry dates in future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3172968"/>
            <a:ext cx="2560320" cy="457200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1729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MEDICINE_DISEASE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80360" y="3172968"/>
            <a:ext cx="1280160" cy="457200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31729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60520" y="3172968"/>
            <a:ext cx="4389120" cy="457200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31729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medicines (e.g. Paracetamol → Influenza &amp; COVID-19)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365760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57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880360" y="365760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0" y="3657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160520" y="3657600"/>
            <a:ext cx="4389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0" y="36576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2023–2024; each linked to a doctor and patient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" y="4142232"/>
            <a:ext cx="2560320" cy="457200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1422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PRESCRIPTION_MEDICINE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880360" y="4142232"/>
            <a:ext cx="1280160" cy="457200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26080" y="41422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160520" y="4142232"/>
            <a:ext cx="4389120" cy="457200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06240" y="41422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Varying quantities (1–3 units per line)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20040" y="4626864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6268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880360" y="4626864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26080" y="46268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160520" y="4626864"/>
            <a:ext cx="4389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06240" y="46268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via trigger; tax 14%, selective discounts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– Sample INSERT Statements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1920240"/>
          </a:xfrm>
          <a:prstGeom prst="rect">
            <a:avLst/>
          </a:prstGeom>
          <a:solidFill>
            <a:srgbClr val="1A2635"/>
          </a:solidFill>
          <a:ln/>
        </p:spPr>
      </p:sp>
      <p:sp>
        <p:nvSpPr>
          <p:cNvPr id="5" name="Text 3"/>
          <p:cNvSpPr/>
          <p:nvPr/>
        </p:nvSpPr>
        <p:spPr>
          <a:xfrm>
            <a:off x="429768" y="914400"/>
            <a:ext cx="8284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Insert a disease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DISEASE VALUES (1,'Influenza','Infectious');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Insert a prescription (trigger auto-creates bill)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PRESCRIPTION (prescription_id, doctor_id, patient_id, issuing_date)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(1, 2, 1, '2023-02-10');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2834640"/>
            <a:ext cx="8503920" cy="2103120"/>
          </a:xfrm>
          <a:prstGeom prst="rect">
            <a:avLst/>
          </a:prstGeom>
          <a:solidFill>
            <a:srgbClr val="1A2635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2926080"/>
            <a:ext cx="828446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Add medicine to prescription (trigger recalculates bill)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PRESCRIPTION_MEDICINE (prescription_id, medicine_id, quantity)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(1, 1, 2);   -- 2 × Paracetamol @ EGP 5.50 = 11.00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After this INSERT the trigger fires: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subtotal = 11.00, tax=14% → total = 11.00 × 1.14 = 12.54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731520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Project Queries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– Doctors Specializing in Heart Disease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solidFill>
            <a:srgbClr val="1A8FB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41248"/>
            <a:ext cx="8321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name of doctors whose specialty is Heart Disease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8503920" cy="1371600"/>
          </a:xfrm>
          <a:prstGeom prst="rect">
            <a:avLst/>
          </a:prstGeom>
          <a:solidFill>
            <a:srgbClr val="1A2635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389888"/>
            <a:ext cx="82844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doctor_name, qualification, specialization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DOCTOR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LOWER(specialization) LIKE '%heart disease%';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7889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3154680"/>
            <a:ext cx="32004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Name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0440" y="3154680"/>
            <a:ext cx="210312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3154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23560" y="3154680"/>
            <a:ext cx="256032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3154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56616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Dina Sabry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20440" y="356616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MD, PhD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23560" y="356616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023360"/>
            <a:ext cx="3200400" cy="457200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Amr Galal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20440" y="4023360"/>
            <a:ext cx="2103120" cy="457200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23560" y="4023360"/>
            <a:ext cx="2560320" cy="457200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45720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doctors found — LIKE used to catch variations in capitalisation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 – List Deficiency Diseases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solidFill>
            <a:srgbClr val="2E5F8A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41248"/>
            <a:ext cx="8321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deficiency diseases in the database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8503920" cy="1371600"/>
          </a:xfrm>
          <a:prstGeom prst="rect">
            <a:avLst/>
          </a:prstGeom>
          <a:solidFill>
            <a:srgbClr val="1A2635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389888"/>
            <a:ext cx="82844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disease_id, disease_name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DISEASE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disease_type = 'Deficiency'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 BY disease_name;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7889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3154680"/>
            <a:ext cx="13716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154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91640" y="3154680"/>
            <a:ext cx="649224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3154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566160"/>
            <a:ext cx="1371600" cy="38404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5661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91640" y="3566160"/>
            <a:ext cx="6492240" cy="38404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35661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Iodine Deficiency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977640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776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91640" y="3977640"/>
            <a:ext cx="6492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37360" y="39776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Deficiency Anemia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389120"/>
            <a:ext cx="1371600" cy="38404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3891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91640" y="4389120"/>
            <a:ext cx="6492240" cy="384048"/>
          </a:xfrm>
          <a:prstGeom prst="rect">
            <a:avLst/>
          </a:prstGeom>
          <a:solidFill>
            <a:srgbClr val="EBF4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0" y="43891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B12 Deficiency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800600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00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691640" y="4800600"/>
            <a:ext cx="6492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48006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D Deficiency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deficiency diseases stored in the system — all pulled with a single equality filter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 – Most Sold Medicine in 2023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solidFill>
            <a:srgbClr val="1E8C5A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41248"/>
            <a:ext cx="8321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most sold medicine in 2023 (by total units prescribed)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8503920" cy="1920240"/>
          </a:xfrm>
          <a:prstGeom prst="rect">
            <a:avLst/>
          </a:prstGeom>
          <a:solidFill>
            <a:srgbClr val="1A2635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389888"/>
            <a:ext cx="8284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m.medicine_name,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SUM(pm.quantity) AS total_units_sold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PRESCRIPTION_MEDICINE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  MEDICINE m ON pm.medicine_id = m.medicine_id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  PRESCRIPTION p ON pm.prescription_id = p.prescription_id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YEAR(p.issuing_date) = 2023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 BY m.medicine_id, m.medicine_name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 BY total_units_sold DESC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 1;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3337560"/>
            <a:ext cx="50292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337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Name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49240" y="3337560"/>
            <a:ext cx="283464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539496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749040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749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Paracetamol 500mg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3749040"/>
            <a:ext cx="2834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43434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across 3 tables to link medicines → prescriptions → dates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YEAR() filter restricts to 2023 prescriptions only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SUM aggregates quantities per medicine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DESC + LIMIT 1 returns only the top result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Queries – More Examples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2057400"/>
          </a:xfrm>
          <a:prstGeom prst="rect">
            <a:avLst/>
          </a:prstGeom>
          <a:solidFill>
            <a:srgbClr val="1A2635"/>
          </a:solidFill>
          <a:ln/>
        </p:spPr>
      </p:sp>
      <p:sp>
        <p:nvSpPr>
          <p:cNvPr id="5" name="Text 3"/>
          <p:cNvSpPr/>
          <p:nvPr/>
        </p:nvSpPr>
        <p:spPr>
          <a:xfrm>
            <a:off x="429768" y="914400"/>
            <a:ext cx="389534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Revenue per doctor in 2023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d.doctor_name,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SUM(b.total) AS total_revenue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DOCTOR 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PRESCRIPTION 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d.doctor_id = p.doctor_id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BILL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p.prescription_id = b.prescription_id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YEAR(p.issuing_date) = 2023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d.doctor_id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total_revenue DESC;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822960"/>
            <a:ext cx="4114800" cy="2057400"/>
          </a:xfrm>
          <a:prstGeom prst="rect">
            <a:avLst/>
          </a:prstGeom>
          <a:solidFill>
            <a:srgbClr val="1A2635"/>
          </a:solidFill>
          <a:ln/>
        </p:spPr>
      </p:sp>
      <p:sp>
        <p:nvSpPr>
          <p:cNvPr id="7" name="Text 5"/>
          <p:cNvSpPr/>
          <p:nvPr/>
        </p:nvSpPr>
        <p:spPr>
          <a:xfrm>
            <a:off x="4818888" y="914400"/>
            <a:ext cx="389534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Medicines for infectious diseases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m.medicine_name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MEDICINE 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MEDICINE_DISEASE 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m.medicine_id = md.medicine_id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DISEASE 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md.disease_id = d.disease_id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d.disease_type = 'Infectious'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m.medicine_name;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3017520"/>
            <a:ext cx="8503920" cy="1828800"/>
          </a:xfrm>
          <a:prstGeom prst="rect">
            <a:avLst/>
          </a:prstGeom>
          <a:solidFill>
            <a:srgbClr val="1A263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3108960"/>
            <a:ext cx="828446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Medicines expiring within 6 months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medicine_name, expiry_date,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DATEDIFF(expiry_date, CURRENT_DATE) AS days_until_expiry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MEDICINE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expiry_date BETWEEN CURRENT_DATE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AND DATE_ADD(CURRENT_DATE, INTERVAL 6 MONTH)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 BY expiry_date;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731520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UI – Flask Web Application</a:t>
            </a:r>
            <a:endParaRPr 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UI – Feature Overview (+5 marks)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743200" cy="1783080"/>
          </a:xfrm>
          <a:prstGeom prst="rect">
            <a:avLst/>
          </a:prstGeom>
          <a:solidFill>
            <a:srgbClr val="EBF4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" y="150876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KPIs: total prescriptions, medicines, doctors, patients, revenue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822960"/>
            <a:ext cx="2743200" cy="1783080"/>
          </a:xfrm>
          <a:prstGeom prst="rect">
            <a:avLst/>
          </a:prstGeom>
          <a:solidFill>
            <a:srgbClr val="EBF4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840480" y="9601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55848" y="150876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prescriptions; create new ones with dropdown selectors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822960"/>
            <a:ext cx="2743200" cy="1783080"/>
          </a:xfrm>
          <a:prstGeom prst="rect">
            <a:avLst/>
          </a:prstGeom>
          <a:solidFill>
            <a:srgbClr val="EBF4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66560" y="9601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81928" y="150876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medicine catalogue with associated diseases listed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2743200" cy="1783080"/>
          </a:xfrm>
          <a:prstGeom prst="rect">
            <a:avLst/>
          </a:prstGeom>
          <a:solidFill>
            <a:srgbClr val="EBF4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👨‍⚕️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29260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Doctors/Patients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" y="347472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pages for all doctors and patients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2788920"/>
            <a:ext cx="2743200" cy="1783080"/>
          </a:xfrm>
          <a:prstGeom prst="rect">
            <a:avLst/>
          </a:prstGeom>
          <a:solidFill>
            <a:srgbClr val="EBF4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3756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🧾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40480" y="29260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55848" y="347472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auto-generated bills: subtotal, tax %, discount %, total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2788920"/>
            <a:ext cx="2743200" cy="1783080"/>
          </a:xfrm>
          <a:prstGeom prst="rect">
            <a:avLst/>
          </a:prstGeom>
          <a:solidFill>
            <a:srgbClr val="EBF4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636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66560" y="29260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Queries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81928" y="347472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page running all 3 required project queries with live results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011680" cy="731520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14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31720" y="914400"/>
            <a:ext cx="6492240" cy="731520"/>
          </a:xfrm>
          <a:prstGeom prst="rect">
            <a:avLst/>
          </a:prstGeom>
          <a:solidFill>
            <a:srgbClr val="EBF4FB"/>
          </a:solidFill>
          <a:ln w="6350">
            <a:solidFill>
              <a:srgbClr val="CDD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91440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 / Jinja2 Templates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25880" y="1645920"/>
            <a:ext cx="0" cy="228600"/>
          </a:xfrm>
          <a:prstGeom prst="line">
            <a:avLst/>
          </a:prstGeom>
          <a:noFill/>
          <a:ln w="25400">
            <a:solidFill>
              <a:srgbClr val="1A8F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74520"/>
            <a:ext cx="2011680" cy="731520"/>
          </a:xfrm>
          <a:prstGeom prst="rect">
            <a:avLst/>
          </a:prstGeom>
          <a:solidFill>
            <a:srgbClr val="2E5F8A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8745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31720" y="1874520"/>
            <a:ext cx="6492240" cy="731520"/>
          </a:xfrm>
          <a:prstGeom prst="rect">
            <a:avLst/>
          </a:prstGeom>
          <a:solidFill>
            <a:srgbClr val="EBF4FB"/>
          </a:solidFill>
          <a:ln w="6350">
            <a:solidFill>
              <a:srgbClr val="CDD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87452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+ Flask Framework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325880" y="2606040"/>
            <a:ext cx="0" cy="228600"/>
          </a:xfrm>
          <a:prstGeom prst="line">
            <a:avLst/>
          </a:prstGeom>
          <a:noFill/>
          <a:ln w="25400">
            <a:solidFill>
              <a:srgbClr val="2E5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34640"/>
            <a:ext cx="201168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Driver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331720" y="2834640"/>
            <a:ext cx="6492240" cy="731520"/>
          </a:xfrm>
          <a:prstGeom prst="rect">
            <a:avLst/>
          </a:prstGeom>
          <a:solidFill>
            <a:srgbClr val="EBF4FB"/>
          </a:solidFill>
          <a:ln w="6350">
            <a:solidFill>
              <a:srgbClr val="CDD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283464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mysql-connector-python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325880" y="3566160"/>
            <a:ext cx="0" cy="22860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94760"/>
            <a:ext cx="2011680" cy="73152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794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331720" y="3794760"/>
            <a:ext cx="6492240" cy="731520"/>
          </a:xfrm>
          <a:prstGeom prst="rect">
            <a:avLst/>
          </a:prstGeom>
          <a:solidFill>
            <a:srgbClr val="EBF4FB"/>
          </a:solidFill>
          <a:ln w="6350">
            <a:solidFill>
              <a:srgbClr val="CDD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379476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(InnoDB engine)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1A2635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" y="4709160"/>
            <a:ext cx="828446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flask mysql-connector-python  →  cd src  →  python app.py  →  open http://localhost:5000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749040" cy="914400"/>
          </a:xfrm>
          <a:prstGeom prst="rect">
            <a:avLst/>
          </a:prstGeom>
          <a:solidFill>
            <a:srgbClr val="2E5F8A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34440"/>
            <a:ext cx="64008" cy="914400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3075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7099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normalised relational schema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234440"/>
            <a:ext cx="3749040" cy="914400"/>
          </a:xfrm>
          <a:prstGeom prst="rect">
            <a:avLst/>
          </a:prstGeom>
          <a:solidFill>
            <a:srgbClr val="2E5F8A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1234440"/>
            <a:ext cx="64008" cy="914400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10" name="Text 8"/>
          <p:cNvSpPr/>
          <p:nvPr/>
        </p:nvSpPr>
        <p:spPr>
          <a:xfrm>
            <a:off x="5001768" y="13075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Triggers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01768" y="17099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Auto-billing + expiry guard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3749040" cy="914400"/>
          </a:xfrm>
          <a:prstGeom prst="rect">
            <a:avLst/>
          </a:prstGeom>
          <a:solidFill>
            <a:srgbClr val="2E5F8A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377440"/>
            <a:ext cx="64008" cy="914400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24505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Views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6968" y="28529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queries for common lookups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377440"/>
            <a:ext cx="3749040" cy="914400"/>
          </a:xfrm>
          <a:prstGeom prst="rect">
            <a:avLst/>
          </a:prstGeom>
          <a:solidFill>
            <a:srgbClr val="2E5F8A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2377440"/>
            <a:ext cx="64008" cy="914400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18" name="Text 16"/>
          <p:cNvSpPr/>
          <p:nvPr/>
        </p:nvSpPr>
        <p:spPr>
          <a:xfrm>
            <a:off x="5001768" y="24505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Required Queries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01768" y="28529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doctors, Deficiency diseases, Top medicine 2023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520440"/>
            <a:ext cx="3749040" cy="914400"/>
          </a:xfrm>
          <a:prstGeom prst="rect">
            <a:avLst/>
          </a:prstGeom>
          <a:solidFill>
            <a:srgbClr val="2E5F8A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520440"/>
            <a:ext cx="64008" cy="914400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22" name="Text 20"/>
          <p:cNvSpPr/>
          <p:nvPr/>
        </p:nvSpPr>
        <p:spPr>
          <a:xfrm>
            <a:off x="886968" y="35935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≥12 Rows/Table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86968" y="39959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 dataset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520440"/>
            <a:ext cx="3749040" cy="914400"/>
          </a:xfrm>
          <a:prstGeom prst="rect">
            <a:avLst/>
          </a:prstGeom>
          <a:solidFill>
            <a:srgbClr val="2E5F8A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3520440"/>
            <a:ext cx="64008" cy="914400"/>
          </a:xfrm>
          <a:prstGeom prst="rect">
            <a:avLst/>
          </a:prstGeom>
          <a:solidFill>
            <a:srgbClr val="1A8FBF"/>
          </a:solidFill>
          <a:ln/>
        </p:spPr>
      </p:sp>
      <p:sp>
        <p:nvSpPr>
          <p:cNvPr id="26" name="Text 24"/>
          <p:cNvSpPr/>
          <p:nvPr/>
        </p:nvSpPr>
        <p:spPr>
          <a:xfrm>
            <a:off x="5001768" y="35935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Flask UI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01768" y="39959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web app reading and writing to MySQL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470916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Medicine Inventory Management System – Project 1</dc:title>
  <dc:subject>PptxGenJS Presentation</dc:subject>
  <dc:creator>PptxGenJS</dc:creator>
  <cp:lastModifiedBy>PptxGenJS</cp:lastModifiedBy>
  <cp:revision>1</cp:revision>
  <dcterms:created xsi:type="dcterms:W3CDTF">2026-05-22T22:39:43Z</dcterms:created>
  <dcterms:modified xsi:type="dcterms:W3CDTF">2026-05-22T22:39:43Z</dcterms:modified>
</cp:coreProperties>
</file>